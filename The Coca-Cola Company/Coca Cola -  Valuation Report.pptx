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59" r:id="rId4"/>
    <p:sldId id="260" r:id="rId5"/>
    <p:sldId id="261" r:id="rId6"/>
    <p:sldId id="262" r:id="rId7"/>
    <p:sldId id="269" r:id="rId8"/>
    <p:sldId id="263" r:id="rId9"/>
    <p:sldId id="264" r:id="rId10"/>
    <p:sldId id="265" r:id="rId11"/>
    <p:sldId id="266" r:id="rId12"/>
    <p:sldId id="267"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2D67C1-0404-42ED-A141-E8D3DC0FCA0E}" v="104" dt="2025-11-16T19:22:53.9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karnarayanan B" userId="2b4eff0e2f06b3a3" providerId="LiveId" clId="{878C4D48-8859-4EF6-8810-E96AE006762E}"/>
    <pc:docChg chg="modSld">
      <pc:chgData name="Sankarnarayanan B" userId="2b4eff0e2f06b3a3" providerId="LiveId" clId="{878C4D48-8859-4EF6-8810-E96AE006762E}" dt="2025-11-16T19:44:24.361" v="1" actId="2"/>
      <pc:docMkLst>
        <pc:docMk/>
      </pc:docMkLst>
      <pc:sldChg chg="modSp mod">
        <pc:chgData name="Sankarnarayanan B" userId="2b4eff0e2f06b3a3" providerId="LiveId" clId="{878C4D48-8859-4EF6-8810-E96AE006762E}" dt="2025-11-16T19:43:44.730" v="0" actId="1076"/>
        <pc:sldMkLst>
          <pc:docMk/>
          <pc:sldMk cId="648814216" sldId="263"/>
        </pc:sldMkLst>
        <pc:picChg chg="mod">
          <ac:chgData name="Sankarnarayanan B" userId="2b4eff0e2f06b3a3" providerId="LiveId" clId="{878C4D48-8859-4EF6-8810-E96AE006762E}" dt="2025-11-16T19:43:44.730" v="0" actId="1076"/>
          <ac:picMkLst>
            <pc:docMk/>
            <pc:sldMk cId="648814216" sldId="263"/>
            <ac:picMk id="13" creationId="{7266C185-3306-F127-68BB-054F8A65E496}"/>
          </ac:picMkLst>
        </pc:picChg>
      </pc:sldChg>
      <pc:sldChg chg="modSp mod">
        <pc:chgData name="Sankarnarayanan B" userId="2b4eff0e2f06b3a3" providerId="LiveId" clId="{878C4D48-8859-4EF6-8810-E96AE006762E}" dt="2025-11-16T19:44:24.361" v="1" actId="2"/>
        <pc:sldMkLst>
          <pc:docMk/>
          <pc:sldMk cId="1124915600" sldId="265"/>
        </pc:sldMkLst>
        <pc:spChg chg="mod">
          <ac:chgData name="Sankarnarayanan B" userId="2b4eff0e2f06b3a3" providerId="LiveId" clId="{878C4D48-8859-4EF6-8810-E96AE006762E}" dt="2025-11-16T19:44:24.361" v="1" actId="2"/>
          <ac:spMkLst>
            <pc:docMk/>
            <pc:sldMk cId="1124915600" sldId="265"/>
            <ac:spMk id="4" creationId="{37221861-0128-D6B1-0DD7-F9DDA7CAC7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B761B-BC94-45CE-924E-604B0662987E}" type="datetimeFigureOut">
              <a:rPr lang="en-IN" smtClean="0"/>
              <a:t>17-11-2025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BCFFC-9C49-4C6E-8EE9-C920FD045CE0}" type="slidenum">
              <a:rPr lang="en-IN" smtClean="0"/>
              <a:t>‹#›</a:t>
            </a:fld>
            <a:endParaRPr lang="en-IN"/>
          </a:p>
        </p:txBody>
      </p:sp>
    </p:spTree>
    <p:extLst>
      <p:ext uri="{BB962C8B-B14F-4D97-AF65-F5344CB8AC3E}">
        <p14:creationId xmlns:p14="http://schemas.microsoft.com/office/powerpoint/2010/main" val="1187000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75BCFFC-9C49-4C6E-8EE9-C920FD045CE0}" type="slidenum">
              <a:rPr lang="en-IN" smtClean="0"/>
              <a:t>1</a:t>
            </a:fld>
            <a:endParaRPr lang="en-IN"/>
          </a:p>
        </p:txBody>
      </p:sp>
    </p:spTree>
    <p:extLst>
      <p:ext uri="{BB962C8B-B14F-4D97-AF65-F5344CB8AC3E}">
        <p14:creationId xmlns:p14="http://schemas.microsoft.com/office/powerpoint/2010/main" val="1032222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E6D6-EB11-0C1A-D82A-72F96E1308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53B637-AE3A-60E6-577F-CA6E4C61D1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42B272-29DE-C7C2-8DFA-855BD6775796}"/>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5" name="Footer Placeholder 4">
            <a:extLst>
              <a:ext uri="{FF2B5EF4-FFF2-40B4-BE49-F238E27FC236}">
                <a16:creationId xmlns:a16="http://schemas.microsoft.com/office/drawing/2014/main" id="{12460B5A-095A-074E-4D8B-0AD323DE6F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78B095-F2A4-D346-B85A-CE3E46DDB701}"/>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4137926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3B1B2-01F9-BD7E-F2F1-F4D01E6BE4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FA5E98-CD99-AB38-40C4-B474BCA8E9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C194CB-B319-779B-CC7D-F6F3090D5B17}"/>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5" name="Footer Placeholder 4">
            <a:extLst>
              <a:ext uri="{FF2B5EF4-FFF2-40B4-BE49-F238E27FC236}">
                <a16:creationId xmlns:a16="http://schemas.microsoft.com/office/drawing/2014/main" id="{58AAD0E5-5652-C6FE-C34B-083FE06A82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4263F9-2EC9-AB01-D57A-D2DC8599BF33}"/>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304780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2C81D-7B5A-2C54-ADBF-196A0EF280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D04312-44FC-7E3C-3592-7A7BD839C3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032352-5FCB-A61F-7D70-7802C82E4194}"/>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5" name="Footer Placeholder 4">
            <a:extLst>
              <a:ext uri="{FF2B5EF4-FFF2-40B4-BE49-F238E27FC236}">
                <a16:creationId xmlns:a16="http://schemas.microsoft.com/office/drawing/2014/main" id="{F0966902-8FF4-EF04-0E64-3915D1829E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BA18A5-00B7-2255-932B-8B12E49A2AB4}"/>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818175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C7388-8773-DFBC-574A-DAE73283A8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CC62B18-C22A-2B61-6158-304608FEED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FABCE6A-08AE-5C14-B644-616C5B0630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816192-CEA9-DD0F-EDE4-7601F622F41F}"/>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6" name="Footer Placeholder 5">
            <a:extLst>
              <a:ext uri="{FF2B5EF4-FFF2-40B4-BE49-F238E27FC236}">
                <a16:creationId xmlns:a16="http://schemas.microsoft.com/office/drawing/2014/main" id="{876E9F01-407B-AD92-3886-9F003B7503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5A4682-27EE-23D1-0290-6D9B05825887}"/>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245025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C228-A98E-6A4C-4965-D512F1DDDA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C2EA14-3941-9EF8-A3EE-A65F467929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125B5E-3A4D-37F9-D6AF-12694EFEE2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98B692-3E12-2D52-5631-01E3961A40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057293-C271-1782-23FB-9777FD72E3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DD4FFA-D0DC-4ACF-A552-C4AC18DA7E8B}"/>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8" name="Footer Placeholder 7">
            <a:extLst>
              <a:ext uri="{FF2B5EF4-FFF2-40B4-BE49-F238E27FC236}">
                <a16:creationId xmlns:a16="http://schemas.microsoft.com/office/drawing/2014/main" id="{325DAE14-8B49-1D99-2EA0-4ED781D42D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FC5D31-004E-A382-16BF-25B3D845CA2D}"/>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3090201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48CB2-D9BD-9F2C-4583-56CA30908B8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790B8A9-300C-0558-1D72-105485C16E64}"/>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4" name="Footer Placeholder 3">
            <a:extLst>
              <a:ext uri="{FF2B5EF4-FFF2-40B4-BE49-F238E27FC236}">
                <a16:creationId xmlns:a16="http://schemas.microsoft.com/office/drawing/2014/main" id="{854916E7-6B98-1241-AB48-B4E9D0297D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EBC464-6FDA-D64B-6794-C2C82C4275C2}"/>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2986883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644F57-B486-FA1E-EE3C-6621699CC00D}"/>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3" name="Footer Placeholder 2">
            <a:extLst>
              <a:ext uri="{FF2B5EF4-FFF2-40B4-BE49-F238E27FC236}">
                <a16:creationId xmlns:a16="http://schemas.microsoft.com/office/drawing/2014/main" id="{038F8CD0-F1E4-3099-38BB-E6867C7A75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3BAF1B-BA7A-C53C-647F-8E9B24CFFAA9}"/>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1007830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5D51-8372-93A6-DB4A-7F1D7C34BB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F021D5-1B11-1A75-E45A-DE31E75350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8971BE-A456-C60D-F0A0-D774AF4F0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59B51-31DF-380E-42AC-966AC2C28DE8}"/>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6" name="Footer Placeholder 5">
            <a:extLst>
              <a:ext uri="{FF2B5EF4-FFF2-40B4-BE49-F238E27FC236}">
                <a16:creationId xmlns:a16="http://schemas.microsoft.com/office/drawing/2014/main" id="{BA559536-970A-6C6B-0D45-0D08692439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49BE0E-CA50-F606-F110-23E1641F4A57}"/>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2851419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1B61B-9FBB-0087-1BEE-F29B432AC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D051CD-365C-B0CC-CF19-80A48C6B4E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242133-C033-E2A9-66BD-05E6783F2B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0B16C1-65A7-43C1-944C-0020F8586627}"/>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6" name="Footer Placeholder 5">
            <a:extLst>
              <a:ext uri="{FF2B5EF4-FFF2-40B4-BE49-F238E27FC236}">
                <a16:creationId xmlns:a16="http://schemas.microsoft.com/office/drawing/2014/main" id="{B8CA2CB9-B98E-5842-8600-79D11D885C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4A53AF-2C79-3DFB-A3B2-A66FB622372A}"/>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2709477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5DD61-9C33-9E79-EA53-21A8C941E6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C3630C-9D4B-029E-87B0-1D3F99CBA4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F6CAD8-6F3D-6FC3-B6E8-57F8707FEA4B}"/>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5" name="Footer Placeholder 4">
            <a:extLst>
              <a:ext uri="{FF2B5EF4-FFF2-40B4-BE49-F238E27FC236}">
                <a16:creationId xmlns:a16="http://schemas.microsoft.com/office/drawing/2014/main" id="{65A86586-8611-8A57-D33F-CF05360B02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9F27A6-F821-BABF-CB89-21E3BC1774E1}"/>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1984684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B66439-1A0C-03D3-B1DC-90AEE987D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876171-60BB-7C2E-427E-3FA57A8161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73C785-28D2-5C86-46B1-CE847B30BADF}"/>
              </a:ext>
            </a:extLst>
          </p:cNvPr>
          <p:cNvSpPr>
            <a:spLocks noGrp="1"/>
          </p:cNvSpPr>
          <p:nvPr>
            <p:ph type="dt" sz="half" idx="10"/>
          </p:nvPr>
        </p:nvSpPr>
        <p:spPr/>
        <p:txBody>
          <a:bodyPr/>
          <a:lstStyle/>
          <a:p>
            <a:fld id="{EE5A8510-3E70-4DE3-B1A4-1AF4C35249D1}" type="datetimeFigureOut">
              <a:rPr lang="en-IN" smtClean="0"/>
              <a:t>17-11-2025</a:t>
            </a:fld>
            <a:endParaRPr lang="en-IN"/>
          </a:p>
        </p:txBody>
      </p:sp>
      <p:sp>
        <p:nvSpPr>
          <p:cNvPr id="5" name="Footer Placeholder 4">
            <a:extLst>
              <a:ext uri="{FF2B5EF4-FFF2-40B4-BE49-F238E27FC236}">
                <a16:creationId xmlns:a16="http://schemas.microsoft.com/office/drawing/2014/main" id="{5F1AF147-3F28-4C51-0D16-2441428CAD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834EE8-1E8F-1F11-C7E1-7D161529F218}"/>
              </a:ext>
            </a:extLst>
          </p:cNvPr>
          <p:cNvSpPr>
            <a:spLocks noGrp="1"/>
          </p:cNvSpPr>
          <p:nvPr>
            <p:ph type="sldNum" sz="quarter" idx="12"/>
          </p:nvPr>
        </p:nvSpPr>
        <p:spPr/>
        <p:txBody>
          <a:bodyPr/>
          <a:lstStyle/>
          <a:p>
            <a:fld id="{A154BCC6-4EA5-4C71-88C0-2AA27D59084F}" type="slidenum">
              <a:rPr lang="en-IN" smtClean="0"/>
              <a:t>‹#›</a:t>
            </a:fld>
            <a:endParaRPr lang="en-IN"/>
          </a:p>
        </p:txBody>
      </p:sp>
    </p:spTree>
    <p:extLst>
      <p:ext uri="{BB962C8B-B14F-4D97-AF65-F5344CB8AC3E}">
        <p14:creationId xmlns:p14="http://schemas.microsoft.com/office/powerpoint/2010/main" val="698471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35DDBB-786D-E1D3-DF4E-3F45E50F25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30391C-98BE-0B53-DAA2-7A34FA038C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4143E9-2555-744A-B8C1-E969B06DE2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A8510-3E70-4DE3-B1A4-1AF4C35249D1}" type="datetimeFigureOut">
              <a:rPr lang="en-IN" smtClean="0"/>
              <a:t>17-11-2025</a:t>
            </a:fld>
            <a:endParaRPr lang="en-IN"/>
          </a:p>
        </p:txBody>
      </p:sp>
      <p:sp>
        <p:nvSpPr>
          <p:cNvPr id="5" name="Footer Placeholder 4">
            <a:extLst>
              <a:ext uri="{FF2B5EF4-FFF2-40B4-BE49-F238E27FC236}">
                <a16:creationId xmlns:a16="http://schemas.microsoft.com/office/drawing/2014/main" id="{4B04D36F-0590-99AA-F0B9-E5196BBEE3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BEAED1-F807-5A1C-A410-D8F80C11AF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54BCC6-4EA5-4C71-88C0-2AA27D59084F}" type="slidenum">
              <a:rPr lang="en-IN" smtClean="0"/>
              <a:t>‹#›</a:t>
            </a:fld>
            <a:endParaRPr lang="en-IN"/>
          </a:p>
        </p:txBody>
      </p:sp>
    </p:spTree>
    <p:extLst>
      <p:ext uri="{BB962C8B-B14F-4D97-AF65-F5344CB8AC3E}">
        <p14:creationId xmlns:p14="http://schemas.microsoft.com/office/powerpoint/2010/main" val="2732542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hyperlink" Target="http://www.coca-colacompany.com/"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6.x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3BD8C411-2143-BDCF-3581-3DB78D5B8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2B7E624-8F1A-89EE-5888-B58B04F8F186}"/>
              </a:ext>
            </a:extLst>
          </p:cNvPr>
          <p:cNvSpPr txBox="1"/>
          <p:nvPr/>
        </p:nvSpPr>
        <p:spPr>
          <a:xfrm>
            <a:off x="1366683" y="5201263"/>
            <a:ext cx="9802761" cy="1200329"/>
          </a:xfrm>
          <a:prstGeom prst="rect">
            <a:avLst/>
          </a:prstGeom>
          <a:noFill/>
        </p:spPr>
        <p:txBody>
          <a:bodyPr wrap="square" rtlCol="0">
            <a:spAutoFit/>
          </a:bodyPr>
          <a:lstStyle/>
          <a:p>
            <a:pPr algn="ctr"/>
            <a:r>
              <a:rPr lang="en-US" sz="3600" dirty="0">
                <a:solidFill>
                  <a:schemeClr val="bg1"/>
                </a:solidFill>
                <a:latin typeface="Berlin Sans FB Demi" panose="020E0802020502020306" pitchFamily="34" charset="0"/>
              </a:rPr>
              <a:t>Valuation Report: The Coca-Cola Company (NYSE: KO)</a:t>
            </a:r>
            <a:endParaRPr lang="en-IN" sz="3600" dirty="0">
              <a:solidFill>
                <a:schemeClr val="bg1"/>
              </a:solidFill>
              <a:latin typeface="Berlin Sans FB Demi" panose="020E0802020502020306" pitchFamily="34" charset="0"/>
            </a:endParaRPr>
          </a:p>
        </p:txBody>
      </p:sp>
    </p:spTree>
    <p:extLst>
      <p:ext uri="{BB962C8B-B14F-4D97-AF65-F5344CB8AC3E}">
        <p14:creationId xmlns:p14="http://schemas.microsoft.com/office/powerpoint/2010/main" val="381468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E385-D5CA-FC80-3705-7EDC733A65EF}"/>
              </a:ext>
            </a:extLst>
          </p:cNvPr>
          <p:cNvSpPr>
            <a:spLocks noGrp="1"/>
          </p:cNvSpPr>
          <p:nvPr>
            <p:ph type="title"/>
          </p:nvPr>
        </p:nvSpPr>
        <p:spPr>
          <a:xfrm>
            <a:off x="640601" y="354832"/>
            <a:ext cx="10515600" cy="1325563"/>
          </a:xfrm>
        </p:spPr>
        <p:txBody>
          <a:bodyPr>
            <a:normAutofit/>
          </a:bodyPr>
          <a:lstStyle/>
          <a:p>
            <a:r>
              <a:rPr lang="en-IN" sz="3600" b="1" dirty="0">
                <a:latin typeface="+mn-lt"/>
              </a:rPr>
              <a:t>Table of Content</a:t>
            </a:r>
          </a:p>
        </p:txBody>
      </p:sp>
      <p:sp>
        <p:nvSpPr>
          <p:cNvPr id="3" name="TextBox 2">
            <a:extLst>
              <a:ext uri="{FF2B5EF4-FFF2-40B4-BE49-F238E27FC236}">
                <a16:creationId xmlns:a16="http://schemas.microsoft.com/office/drawing/2014/main" id="{A39DBF8C-F427-D165-6514-14CD9BA8DD2A}"/>
              </a:ext>
            </a:extLst>
          </p:cNvPr>
          <p:cNvSpPr txBox="1"/>
          <p:nvPr/>
        </p:nvSpPr>
        <p:spPr>
          <a:xfrm>
            <a:off x="640600" y="1680395"/>
            <a:ext cx="4924457" cy="2862322"/>
          </a:xfrm>
          <a:prstGeom prst="rect">
            <a:avLst/>
          </a:prstGeom>
          <a:noFill/>
        </p:spPr>
        <p:txBody>
          <a:bodyPr wrap="square" rtlCol="0">
            <a:spAutoFit/>
          </a:bodyPr>
          <a:lstStyle/>
          <a:p>
            <a:pPr marL="342900" indent="-342900">
              <a:buAutoNum type="arabicPeriod"/>
            </a:pPr>
            <a:r>
              <a:rPr lang="en-IN" dirty="0"/>
              <a:t>Company Overview</a:t>
            </a:r>
          </a:p>
          <a:p>
            <a:pPr marL="342900" indent="-342900">
              <a:buAutoNum type="arabicPeriod"/>
            </a:pPr>
            <a:r>
              <a:rPr lang="en-IN" dirty="0"/>
              <a:t>Industry Overview</a:t>
            </a:r>
          </a:p>
          <a:p>
            <a:pPr marL="342900" indent="-342900">
              <a:buAutoNum type="arabicPeriod"/>
            </a:pPr>
            <a:r>
              <a:rPr lang="en-IN" dirty="0"/>
              <a:t>Comparable Company Analysis (CCA)</a:t>
            </a:r>
          </a:p>
          <a:p>
            <a:pPr marL="342900" indent="-342900">
              <a:buAutoNum type="arabicPeriod"/>
            </a:pPr>
            <a:r>
              <a:rPr lang="en-IN" dirty="0"/>
              <a:t>DCF Valuation </a:t>
            </a:r>
          </a:p>
          <a:p>
            <a:pPr marL="342900" indent="-342900">
              <a:buAutoNum type="arabicPeriod"/>
            </a:pPr>
            <a:r>
              <a:rPr lang="en-IN" dirty="0"/>
              <a:t>Qualitative inputs for DCF Model (Assumption)</a:t>
            </a:r>
          </a:p>
          <a:p>
            <a:pPr marL="342900" indent="-342900">
              <a:buAutoNum type="arabicPeriod"/>
            </a:pPr>
            <a:r>
              <a:rPr lang="en-IN" dirty="0"/>
              <a:t>Interpretation &amp; Conclusion</a:t>
            </a:r>
          </a:p>
          <a:p>
            <a:endParaRPr lang="en-US" b="1" dirty="0"/>
          </a:p>
          <a:p>
            <a:r>
              <a:rPr lang="en-US" b="1" dirty="0"/>
              <a:t>Appendix</a:t>
            </a:r>
          </a:p>
          <a:p>
            <a:pPr marL="285750" indent="-285750">
              <a:buFont typeface="Arial" panose="020B0604020202020204" pitchFamily="34" charset="0"/>
              <a:buChar char="•"/>
            </a:pPr>
            <a:r>
              <a:rPr lang="en-US" dirty="0"/>
              <a:t>Historical Revenue Statement</a:t>
            </a:r>
          </a:p>
          <a:p>
            <a:pPr marL="285750" indent="-285750">
              <a:buFont typeface="Arial" panose="020B0604020202020204" pitchFamily="34" charset="0"/>
              <a:buChar char="•"/>
            </a:pPr>
            <a:r>
              <a:rPr lang="en-US" dirty="0"/>
              <a:t>Ratios</a:t>
            </a:r>
          </a:p>
        </p:txBody>
      </p:sp>
      <p:pic>
        <p:nvPicPr>
          <p:cNvPr id="4" name="Picture 3">
            <a:extLst>
              <a:ext uri="{FF2B5EF4-FFF2-40B4-BE49-F238E27FC236}">
                <a16:creationId xmlns:a16="http://schemas.microsoft.com/office/drawing/2014/main" id="{05EB309B-493B-671A-1E09-C1EFCD39FC9E}"/>
              </a:ext>
            </a:extLst>
          </p:cNvPr>
          <p:cNvPicPr>
            <a:picLocks noChangeAspect="1"/>
          </p:cNvPicPr>
          <p:nvPr/>
        </p:nvPicPr>
        <p:blipFill>
          <a:blip r:embed="rId2"/>
          <a:stretch>
            <a:fillRect/>
          </a:stretch>
        </p:blipFill>
        <p:spPr>
          <a:xfrm>
            <a:off x="6096000" y="870590"/>
            <a:ext cx="5455399" cy="4094700"/>
          </a:xfrm>
          <a:prstGeom prst="rect">
            <a:avLst/>
          </a:prstGeom>
        </p:spPr>
      </p:pic>
      <p:sp>
        <p:nvSpPr>
          <p:cNvPr id="5" name="TextBox 4">
            <a:extLst>
              <a:ext uri="{FF2B5EF4-FFF2-40B4-BE49-F238E27FC236}">
                <a16:creationId xmlns:a16="http://schemas.microsoft.com/office/drawing/2014/main" id="{E5A99F98-695C-8234-E045-69B2B7EA34B9}"/>
              </a:ext>
            </a:extLst>
          </p:cNvPr>
          <p:cNvSpPr txBox="1"/>
          <p:nvPr/>
        </p:nvSpPr>
        <p:spPr>
          <a:xfrm>
            <a:off x="640600" y="5856837"/>
            <a:ext cx="10284542" cy="646331"/>
          </a:xfrm>
          <a:prstGeom prst="rect">
            <a:avLst/>
          </a:prstGeom>
          <a:noFill/>
        </p:spPr>
        <p:txBody>
          <a:bodyPr wrap="square" rtlCol="0">
            <a:spAutoFit/>
          </a:bodyPr>
          <a:lstStyle/>
          <a:p>
            <a:r>
              <a:rPr lang="en-US" sz="1200" b="1" dirty="0"/>
              <a:t>Disclaimer:</a:t>
            </a:r>
            <a:br>
              <a:rPr lang="en-US" sz="1200" dirty="0"/>
            </a:br>
            <a:r>
              <a:rPr lang="en-US" sz="1200" dirty="0"/>
              <a:t>This valuation report is prepared solely for academic and learning purposes. All analysis, assumptions, and conclusions are based on publicly available information and do not constitute investment advice.</a:t>
            </a:r>
            <a:endParaRPr lang="en-IN" sz="1200" dirty="0"/>
          </a:p>
        </p:txBody>
      </p:sp>
    </p:spTree>
    <p:extLst>
      <p:ext uri="{BB962C8B-B14F-4D97-AF65-F5344CB8AC3E}">
        <p14:creationId xmlns:p14="http://schemas.microsoft.com/office/powerpoint/2010/main" val="1715523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3E54-863E-0CB8-6220-06BCCF20A8C8}"/>
              </a:ext>
            </a:extLst>
          </p:cNvPr>
          <p:cNvSpPr>
            <a:spLocks noGrp="1"/>
          </p:cNvSpPr>
          <p:nvPr>
            <p:ph type="title"/>
          </p:nvPr>
        </p:nvSpPr>
        <p:spPr>
          <a:xfrm>
            <a:off x="698090" y="365126"/>
            <a:ext cx="10655710" cy="824578"/>
          </a:xfrm>
        </p:spPr>
        <p:txBody>
          <a:bodyPr anchor="t">
            <a:normAutofit fontScale="90000"/>
          </a:bodyPr>
          <a:lstStyle/>
          <a:p>
            <a:r>
              <a:rPr lang="en-IN" sz="3600" b="1" dirty="0">
                <a:latin typeface="+mn-lt"/>
              </a:rPr>
              <a:t>Company Overview</a:t>
            </a:r>
            <a:br>
              <a:rPr lang="en-IN" sz="3600" b="1" dirty="0">
                <a:latin typeface="+mn-lt"/>
              </a:rPr>
            </a:br>
            <a:endParaRPr lang="en-IN" sz="3600" b="1" dirty="0">
              <a:latin typeface="+mn-lt"/>
            </a:endParaRPr>
          </a:p>
        </p:txBody>
      </p:sp>
      <p:sp>
        <p:nvSpPr>
          <p:cNvPr id="4" name="TextBox 3">
            <a:extLst>
              <a:ext uri="{FF2B5EF4-FFF2-40B4-BE49-F238E27FC236}">
                <a16:creationId xmlns:a16="http://schemas.microsoft.com/office/drawing/2014/main" id="{06ADFD82-AB8B-C800-7824-4D52925B16A6}"/>
              </a:ext>
            </a:extLst>
          </p:cNvPr>
          <p:cNvSpPr txBox="1"/>
          <p:nvPr/>
        </p:nvSpPr>
        <p:spPr>
          <a:xfrm>
            <a:off x="698090" y="983225"/>
            <a:ext cx="11189110" cy="5232202"/>
          </a:xfrm>
          <a:prstGeom prst="rect">
            <a:avLst/>
          </a:prstGeom>
          <a:noFill/>
        </p:spPr>
        <p:txBody>
          <a:bodyPr wrap="square" rtlCol="0">
            <a:spAutoFit/>
          </a:bodyPr>
          <a:lstStyle/>
          <a:p>
            <a:r>
              <a:rPr lang="en-IN" sz="2000" b="1" dirty="0">
                <a:solidFill>
                  <a:srgbClr val="FF0000"/>
                </a:solidFill>
              </a:rPr>
              <a:t>The Coca-Cola Company – NYSE ( KO US Equity )</a:t>
            </a:r>
            <a:endParaRPr lang="en-IN" sz="2000" dirty="0">
              <a:solidFill>
                <a:srgbClr val="FF0000"/>
              </a:solidFill>
            </a:endParaRPr>
          </a:p>
          <a:p>
            <a:endParaRPr lang="en-IN" sz="1400" b="1" dirty="0"/>
          </a:p>
          <a:p>
            <a:r>
              <a:rPr lang="en-IN" sz="1600" b="1" dirty="0"/>
              <a:t>Sector</a:t>
            </a:r>
            <a:endParaRPr lang="en-IN" sz="1600" dirty="0"/>
          </a:p>
          <a:p>
            <a:r>
              <a:rPr lang="en-IN" sz="1600" u="sng" dirty="0"/>
              <a:t>Consumer Staples</a:t>
            </a:r>
          </a:p>
          <a:p>
            <a:endParaRPr lang="en-IN" sz="1600" dirty="0"/>
          </a:p>
          <a:p>
            <a:r>
              <a:rPr lang="en-IN" sz="1600" b="1" dirty="0"/>
              <a:t>Industry</a:t>
            </a:r>
            <a:endParaRPr lang="en-IN" sz="1600" dirty="0"/>
          </a:p>
          <a:p>
            <a:r>
              <a:rPr lang="en-IN" sz="1600" u="sng" dirty="0"/>
              <a:t>Soft Drinks &amp; Non-alcoholic Beverages</a:t>
            </a:r>
          </a:p>
          <a:p>
            <a:endParaRPr lang="en-IN" sz="1600" dirty="0"/>
          </a:p>
          <a:p>
            <a:r>
              <a:rPr lang="en-IN" sz="1600" b="1" dirty="0"/>
              <a:t>Website</a:t>
            </a:r>
            <a:endParaRPr lang="en-IN" sz="1600" dirty="0"/>
          </a:p>
          <a:p>
            <a:r>
              <a:rPr lang="en-IN" sz="1600" u="sng" dirty="0">
                <a:hlinkClick r:id="rId2"/>
              </a:rPr>
              <a:t>www.coca-colacompany.com</a:t>
            </a:r>
            <a:endParaRPr lang="en-IN" sz="1600" u="sng" dirty="0"/>
          </a:p>
          <a:p>
            <a:endParaRPr lang="en-IN" sz="1600" u="sng" dirty="0"/>
          </a:p>
          <a:p>
            <a:r>
              <a:rPr lang="en-IN" sz="1600" b="1" dirty="0"/>
              <a:t>Business</a:t>
            </a:r>
            <a:r>
              <a:rPr lang="en-IN" sz="1600" dirty="0"/>
              <a:t> -  The Coca-Cola Company, a beverage company, manufactures and sells various non-alcoholic beverages in the United States and internationally. The company provides sparkling soft drinks and Flavors; water, sports, coffee, and tea; juice, value-added dairy, and plant-based beverages; and other beverages. It also offers beverage concentrates and syrups, as well as fountain syrups to fountain retailers comprising restaurants and convenience stores. It operates through a network of independent bottling partners, distributors, wholesalers, and retailers, as well as through bottling and distribution operators.</a:t>
            </a:r>
          </a:p>
          <a:p>
            <a:endParaRPr lang="en-IN" sz="1600" dirty="0"/>
          </a:p>
          <a:p>
            <a:r>
              <a:rPr lang="en-IN" sz="1600" b="1" dirty="0"/>
              <a:t>Products</a:t>
            </a:r>
            <a:endParaRPr lang="en-IN" sz="1600" dirty="0"/>
          </a:p>
          <a:p>
            <a:r>
              <a:rPr lang="en-IN" sz="1600" dirty="0"/>
              <a:t>Concentrates, syrups, fountain syrups, Company Trademark Beverages, Trademark Coca-Cola Beverages</a:t>
            </a:r>
            <a:endParaRPr lang="en-IN" sz="1600" b="1" dirty="0"/>
          </a:p>
          <a:p>
            <a:endParaRPr lang="en-IN" sz="1400" dirty="0"/>
          </a:p>
          <a:p>
            <a:endParaRPr lang="en-IN" sz="1400" dirty="0"/>
          </a:p>
        </p:txBody>
      </p:sp>
    </p:spTree>
    <p:extLst>
      <p:ext uri="{BB962C8B-B14F-4D97-AF65-F5344CB8AC3E}">
        <p14:creationId xmlns:p14="http://schemas.microsoft.com/office/powerpoint/2010/main" val="3755074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65EB1-D426-80B6-5B3E-3D97CFA44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02639-68CE-B37D-76F3-1648030BAAA4}"/>
              </a:ext>
            </a:extLst>
          </p:cNvPr>
          <p:cNvSpPr>
            <a:spLocks noGrp="1"/>
          </p:cNvSpPr>
          <p:nvPr>
            <p:ph type="title"/>
          </p:nvPr>
        </p:nvSpPr>
        <p:spPr>
          <a:xfrm>
            <a:off x="698090" y="365126"/>
            <a:ext cx="10655710" cy="824578"/>
          </a:xfrm>
        </p:spPr>
        <p:txBody>
          <a:bodyPr anchor="t">
            <a:normAutofit fontScale="90000"/>
          </a:bodyPr>
          <a:lstStyle/>
          <a:p>
            <a:r>
              <a:rPr lang="en-IN" sz="3600" b="1" dirty="0">
                <a:latin typeface="+mn-lt"/>
              </a:rPr>
              <a:t>Company Overview</a:t>
            </a:r>
            <a:br>
              <a:rPr lang="en-IN" sz="3600" b="1" dirty="0">
                <a:latin typeface="+mn-lt"/>
              </a:rPr>
            </a:br>
            <a:endParaRPr lang="en-IN" sz="3600" b="1" dirty="0">
              <a:latin typeface="+mn-lt"/>
            </a:endParaRPr>
          </a:p>
        </p:txBody>
      </p:sp>
      <p:sp>
        <p:nvSpPr>
          <p:cNvPr id="4" name="TextBox 3">
            <a:extLst>
              <a:ext uri="{FF2B5EF4-FFF2-40B4-BE49-F238E27FC236}">
                <a16:creationId xmlns:a16="http://schemas.microsoft.com/office/drawing/2014/main" id="{B9DE157D-A1FF-6A8D-155F-8C4C65B85B36}"/>
              </a:ext>
            </a:extLst>
          </p:cNvPr>
          <p:cNvSpPr txBox="1"/>
          <p:nvPr/>
        </p:nvSpPr>
        <p:spPr>
          <a:xfrm>
            <a:off x="698090" y="1189704"/>
            <a:ext cx="11189110" cy="3477875"/>
          </a:xfrm>
          <a:prstGeom prst="rect">
            <a:avLst/>
          </a:prstGeom>
          <a:noFill/>
        </p:spPr>
        <p:txBody>
          <a:bodyPr wrap="square" rtlCol="0">
            <a:spAutoFit/>
          </a:bodyPr>
          <a:lstStyle/>
          <a:p>
            <a:r>
              <a:rPr lang="en-IN" sz="1600" b="1" dirty="0"/>
              <a:t>Operations or revenue recognition</a:t>
            </a:r>
            <a:endParaRPr lang="en-IN" sz="1600" dirty="0"/>
          </a:p>
          <a:p>
            <a:r>
              <a:rPr lang="en-IN" sz="1600" dirty="0"/>
              <a:t>Company operates in two lines of business: concentrate operations and finished product operations.</a:t>
            </a:r>
          </a:p>
          <a:p>
            <a:endParaRPr lang="en-IN" sz="1600" dirty="0"/>
          </a:p>
          <a:p>
            <a:r>
              <a:rPr lang="en-IN" sz="1600" dirty="0"/>
              <a:t>Our </a:t>
            </a:r>
            <a:r>
              <a:rPr lang="en-IN" sz="1600" b="1" dirty="0"/>
              <a:t>concentrate operations</a:t>
            </a:r>
            <a:r>
              <a:rPr lang="en-IN" sz="1600" dirty="0"/>
              <a:t> typically generate net operating revenues by selling beverage concentrates, sometimes referred to as “beverage bases,” syrups, including fountain syrups, and certain finished beverages to authorized bottling operations (to which we typically refer as our “bottlers” or our “bottling partners”).</a:t>
            </a:r>
          </a:p>
          <a:p>
            <a:endParaRPr lang="en-IN" sz="1600" dirty="0"/>
          </a:p>
          <a:p>
            <a:r>
              <a:rPr lang="en-IN" sz="1600" dirty="0"/>
              <a:t>Our </a:t>
            </a:r>
            <a:r>
              <a:rPr lang="en-IN" sz="1600" b="1" dirty="0"/>
              <a:t>finished product operations</a:t>
            </a:r>
            <a:r>
              <a:rPr lang="en-IN" sz="1600" dirty="0"/>
              <a:t> generate net operating revenues by selling sparkling soft drinks and a variety of other finished beverages to retailers, or to distributors and wholesalers who in turn sell the beverages to retailers. Generally, finished product operations generate higher net operating revenues but lower gross profit margins than concentrate operations. These operations consist primarily of our consolidated bottling and distribution operations, which are included in our Bottling Investments operating segment.</a:t>
            </a:r>
          </a:p>
          <a:p>
            <a:endParaRPr lang="en-IN" sz="1400" dirty="0"/>
          </a:p>
          <a:p>
            <a:endParaRPr lang="en-IN" sz="1400" dirty="0"/>
          </a:p>
        </p:txBody>
      </p:sp>
      <p:pic>
        <p:nvPicPr>
          <p:cNvPr id="4098" name="Picture 2" descr="coca-cola logo">
            <a:extLst>
              <a:ext uri="{FF2B5EF4-FFF2-40B4-BE49-F238E27FC236}">
                <a16:creationId xmlns:a16="http://schemas.microsoft.com/office/drawing/2014/main" id="{9CBAB58F-B12D-B114-7B31-D77CE1550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95019"/>
            <a:ext cx="12192000" cy="2462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602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9D025-8936-6DAA-348D-2AB8D4BD7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9EB95-24B6-B675-69E4-83DA30D9442F}"/>
              </a:ext>
            </a:extLst>
          </p:cNvPr>
          <p:cNvSpPr>
            <a:spLocks noGrp="1"/>
          </p:cNvSpPr>
          <p:nvPr>
            <p:ph type="title"/>
          </p:nvPr>
        </p:nvSpPr>
        <p:spPr>
          <a:xfrm>
            <a:off x="698090" y="158649"/>
            <a:ext cx="10655710" cy="824578"/>
          </a:xfrm>
        </p:spPr>
        <p:txBody>
          <a:bodyPr anchor="t">
            <a:normAutofit/>
          </a:bodyPr>
          <a:lstStyle/>
          <a:p>
            <a:r>
              <a:rPr lang="en-IN" sz="3600" b="1" dirty="0">
                <a:latin typeface="+mn-lt"/>
              </a:rPr>
              <a:t>Industry Overview</a:t>
            </a:r>
          </a:p>
        </p:txBody>
      </p:sp>
      <p:sp>
        <p:nvSpPr>
          <p:cNvPr id="4" name="TextBox 3">
            <a:extLst>
              <a:ext uri="{FF2B5EF4-FFF2-40B4-BE49-F238E27FC236}">
                <a16:creationId xmlns:a16="http://schemas.microsoft.com/office/drawing/2014/main" id="{3B100C85-B4C2-0DDC-EE2D-88F3137B2140}"/>
              </a:ext>
            </a:extLst>
          </p:cNvPr>
          <p:cNvSpPr txBox="1"/>
          <p:nvPr/>
        </p:nvSpPr>
        <p:spPr>
          <a:xfrm>
            <a:off x="698090" y="737868"/>
            <a:ext cx="11189110" cy="5863144"/>
          </a:xfrm>
          <a:prstGeom prst="rect">
            <a:avLst/>
          </a:prstGeom>
          <a:noFill/>
        </p:spPr>
        <p:txBody>
          <a:bodyPr wrap="square" rtlCol="0">
            <a:spAutoFit/>
          </a:bodyPr>
          <a:lstStyle/>
          <a:p>
            <a:r>
              <a:rPr lang="en-IN" sz="1500" b="1" u="sng" dirty="0">
                <a:solidFill>
                  <a:srgbClr val="00B0F0"/>
                </a:solidFill>
              </a:rPr>
              <a:t>Soft Drinks &amp; Non-alcoholic Beverages</a:t>
            </a:r>
          </a:p>
          <a:p>
            <a:endParaRPr lang="en-IN" sz="1500" b="1" u="sng" dirty="0">
              <a:solidFill>
                <a:srgbClr val="00B0F0"/>
              </a:solidFill>
            </a:endParaRPr>
          </a:p>
          <a:p>
            <a:r>
              <a:rPr lang="en-IN" sz="1500" b="1" dirty="0"/>
              <a:t>Emerging Trends in the Non-Alcoholic RTD Beverages Industry</a:t>
            </a:r>
          </a:p>
          <a:p>
            <a:endParaRPr lang="en-IN" sz="1500" dirty="0"/>
          </a:p>
          <a:p>
            <a:r>
              <a:rPr lang="en-IN" sz="1500" dirty="0"/>
              <a:t>The global non-alcoholic beverages market size was estimated at USD 1,223.93 billion in 2023 and is projected to reach USD 1,997.25 billion by 2030, growing at a CAGR of 7.4% from 2024 to 2030. With the growing acceptance of the no-alcohol and low-alcohol categories by consumers, manufacturers in the market are catering to the new trends and have been innovating existing product portfolios, which is likely to bode well for future growth.</a:t>
            </a:r>
          </a:p>
          <a:p>
            <a:endParaRPr lang="en-IN" sz="1500" dirty="0"/>
          </a:p>
          <a:p>
            <a:r>
              <a:rPr lang="en-IN" sz="1500" b="1" dirty="0"/>
              <a:t>Industry Overview – Key Growth Factors </a:t>
            </a:r>
          </a:p>
          <a:p>
            <a:endParaRPr lang="en-IN" sz="1500" b="1" dirty="0"/>
          </a:p>
          <a:p>
            <a:pPr marL="285750" indent="-285750">
              <a:buFont typeface="Arial" panose="020B0604020202020204" pitchFamily="34" charset="0"/>
              <a:buChar char="•"/>
            </a:pPr>
            <a:r>
              <a:rPr lang="en-IN" sz="1500" b="1" dirty="0"/>
              <a:t>Growing Need for Non-Alcoholic Drinks</a:t>
            </a:r>
            <a:br>
              <a:rPr lang="en-IN" sz="1500" b="1" dirty="0"/>
            </a:br>
            <a:r>
              <a:rPr lang="en-IN" sz="1500" dirty="0"/>
              <a:t>Consumers are shifting toward healthier, aspirational, and functional hydration choices, especially products offering relaxation, mood enhancement, and organic ingredients.</a:t>
            </a:r>
          </a:p>
          <a:p>
            <a:pPr marL="285750" indent="-285750">
              <a:buFont typeface="Arial" panose="020B0604020202020204" pitchFamily="34" charset="0"/>
              <a:buChar char="•"/>
            </a:pPr>
            <a:endParaRPr lang="en-IN" sz="1500" dirty="0"/>
          </a:p>
          <a:p>
            <a:pPr marL="285750" lvl="0" indent="-285750">
              <a:buFont typeface="Arial" panose="020B0604020202020204" pitchFamily="34" charset="0"/>
              <a:buChar char="•"/>
            </a:pPr>
            <a:r>
              <a:rPr lang="en-IN" sz="1500" b="1" dirty="0"/>
              <a:t>Health-Driven Choices</a:t>
            </a:r>
            <a:br>
              <a:rPr lang="en-IN" sz="1500" b="1" dirty="0"/>
            </a:br>
            <a:r>
              <a:rPr lang="en-IN" sz="1500" dirty="0"/>
              <a:t>Demand is rising for beverages with functional benefits—like vitamins, antioxidants, and natural hydration—while consumers cut down on sugar, calories, and artificial additives. </a:t>
            </a:r>
            <a:r>
              <a:rPr lang="en-IN" sz="1500" b="1" dirty="0"/>
              <a:t>with 61% of CSD users aged 35–54 saying added vitamins/minerals would make soft drinks a healthier choice.</a:t>
            </a:r>
          </a:p>
          <a:p>
            <a:pPr marL="285750" lvl="0" indent="-285750">
              <a:buFont typeface="Arial" panose="020B0604020202020204" pitchFamily="34" charset="0"/>
              <a:buChar char="•"/>
            </a:pPr>
            <a:endParaRPr lang="en-IN" sz="1500" b="1" dirty="0"/>
          </a:p>
          <a:p>
            <a:pPr marL="285750" lvl="0" indent="-285750">
              <a:buFont typeface="Arial" panose="020B0604020202020204" pitchFamily="34" charset="0"/>
              <a:buChar char="•"/>
            </a:pPr>
            <a:r>
              <a:rPr lang="en-IN" sz="1500" b="1" dirty="0"/>
              <a:t>Personalization Trends in RTD Beverages</a:t>
            </a:r>
            <a:br>
              <a:rPr lang="en-IN" sz="1500" b="1" dirty="0"/>
            </a:br>
            <a:r>
              <a:rPr lang="en-IN" sz="1500" dirty="0"/>
              <a:t>The emergence of AI-powered platforms that offer subscription services and customized blends is an intriguing development for 2024. DIY beverage kits  including soda makers, kombucha brewing kits, and infused tea, water, and mocktails that may be made at home. These AI systems may generate distinctive flavour profiles by analysing user data such as dietary limitations, taste preferences, and health objectives.</a:t>
            </a:r>
          </a:p>
        </p:txBody>
      </p:sp>
    </p:spTree>
    <p:extLst>
      <p:ext uri="{BB962C8B-B14F-4D97-AF65-F5344CB8AC3E}">
        <p14:creationId xmlns:p14="http://schemas.microsoft.com/office/powerpoint/2010/main" val="1113479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25BA-E7EB-7A08-0E40-DCA4D3CE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50843-6385-F99D-1D5D-F59AE49F9E28}"/>
              </a:ext>
            </a:extLst>
          </p:cNvPr>
          <p:cNvSpPr>
            <a:spLocks noGrp="1"/>
          </p:cNvSpPr>
          <p:nvPr>
            <p:ph type="title"/>
          </p:nvPr>
        </p:nvSpPr>
        <p:spPr>
          <a:xfrm>
            <a:off x="127728" y="286468"/>
            <a:ext cx="11147414" cy="824578"/>
          </a:xfrm>
        </p:spPr>
        <p:txBody>
          <a:bodyPr anchor="t">
            <a:normAutofit/>
          </a:bodyPr>
          <a:lstStyle/>
          <a:p>
            <a:r>
              <a:rPr lang="en-IN" sz="3200" b="1" dirty="0">
                <a:latin typeface="+mn-lt"/>
              </a:rPr>
              <a:t>Comparable Company Analysis (CCA)</a:t>
            </a:r>
            <a:endParaRPr lang="en-IN" sz="3600" b="1" dirty="0">
              <a:latin typeface="+mn-lt"/>
            </a:endParaRPr>
          </a:p>
        </p:txBody>
      </p:sp>
      <p:pic>
        <p:nvPicPr>
          <p:cNvPr id="9" name="Picture 8">
            <a:extLst>
              <a:ext uri="{FF2B5EF4-FFF2-40B4-BE49-F238E27FC236}">
                <a16:creationId xmlns:a16="http://schemas.microsoft.com/office/drawing/2014/main" id="{44DC845C-6D18-0EF1-1742-C6FAA29DB78B}"/>
              </a:ext>
            </a:extLst>
          </p:cNvPr>
          <p:cNvPicPr>
            <a:picLocks noChangeAspect="1"/>
          </p:cNvPicPr>
          <p:nvPr/>
        </p:nvPicPr>
        <p:blipFill>
          <a:blip r:embed="rId2"/>
          <a:stretch>
            <a:fillRect/>
          </a:stretch>
        </p:blipFill>
        <p:spPr>
          <a:xfrm>
            <a:off x="127728" y="1403555"/>
            <a:ext cx="11883882" cy="4050889"/>
          </a:xfrm>
          <a:prstGeom prst="rect">
            <a:avLst/>
          </a:prstGeom>
        </p:spPr>
      </p:pic>
    </p:spTree>
    <p:extLst>
      <p:ext uri="{BB962C8B-B14F-4D97-AF65-F5344CB8AC3E}">
        <p14:creationId xmlns:p14="http://schemas.microsoft.com/office/powerpoint/2010/main" val="152130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9265E-E691-124F-767A-1DD4BEABD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92398-C1D0-126E-59AB-633C0FB7A703}"/>
              </a:ext>
            </a:extLst>
          </p:cNvPr>
          <p:cNvSpPr>
            <a:spLocks noGrp="1"/>
          </p:cNvSpPr>
          <p:nvPr>
            <p:ph type="title"/>
          </p:nvPr>
        </p:nvSpPr>
        <p:spPr>
          <a:xfrm>
            <a:off x="127728" y="286468"/>
            <a:ext cx="11147414" cy="863906"/>
          </a:xfrm>
        </p:spPr>
        <p:txBody>
          <a:bodyPr anchor="t">
            <a:normAutofit/>
          </a:bodyPr>
          <a:lstStyle/>
          <a:p>
            <a:r>
              <a:rPr lang="en-IN" sz="3600" b="1" dirty="0">
                <a:latin typeface="+mn-lt"/>
              </a:rPr>
              <a:t>DCF</a:t>
            </a:r>
            <a:r>
              <a:rPr lang="en-IN" sz="3200" b="1" dirty="0">
                <a:latin typeface="+mn-lt"/>
              </a:rPr>
              <a:t> </a:t>
            </a:r>
            <a:r>
              <a:rPr lang="en-IN" sz="3600" b="1" dirty="0">
                <a:latin typeface="+mn-lt"/>
              </a:rPr>
              <a:t>Valuation</a:t>
            </a:r>
          </a:p>
        </p:txBody>
      </p:sp>
      <p:pic>
        <p:nvPicPr>
          <p:cNvPr id="4" name="Picture 3">
            <a:extLst>
              <a:ext uri="{FF2B5EF4-FFF2-40B4-BE49-F238E27FC236}">
                <a16:creationId xmlns:a16="http://schemas.microsoft.com/office/drawing/2014/main" id="{FFA46A83-D70E-66A8-7D8B-11EE1A21FCF0}"/>
              </a:ext>
            </a:extLst>
          </p:cNvPr>
          <p:cNvPicPr>
            <a:picLocks noChangeAspect="1"/>
          </p:cNvPicPr>
          <p:nvPr/>
        </p:nvPicPr>
        <p:blipFill>
          <a:blip r:embed="rId2"/>
          <a:stretch>
            <a:fillRect/>
          </a:stretch>
        </p:blipFill>
        <p:spPr>
          <a:xfrm>
            <a:off x="127728" y="1150374"/>
            <a:ext cx="11826121" cy="2369572"/>
          </a:xfrm>
          <a:prstGeom prst="rect">
            <a:avLst/>
          </a:prstGeom>
        </p:spPr>
      </p:pic>
    </p:spTree>
    <p:extLst>
      <p:ext uri="{BB962C8B-B14F-4D97-AF65-F5344CB8AC3E}">
        <p14:creationId xmlns:p14="http://schemas.microsoft.com/office/powerpoint/2010/main" val="1610641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78F5A-FEE2-8E58-9E2D-689738312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6035A-3C1D-ADA8-3670-81C0DD02E28F}"/>
              </a:ext>
            </a:extLst>
          </p:cNvPr>
          <p:cNvSpPr>
            <a:spLocks noGrp="1"/>
          </p:cNvSpPr>
          <p:nvPr>
            <p:ph type="title"/>
          </p:nvPr>
        </p:nvSpPr>
        <p:spPr>
          <a:xfrm>
            <a:off x="382842" y="185972"/>
            <a:ext cx="11147414" cy="824578"/>
          </a:xfrm>
        </p:spPr>
        <p:txBody>
          <a:bodyPr anchor="t">
            <a:normAutofit/>
          </a:bodyPr>
          <a:lstStyle/>
          <a:p>
            <a:r>
              <a:rPr lang="en-IN" sz="3600" b="1" dirty="0">
                <a:latin typeface="+mn-lt"/>
              </a:rPr>
              <a:t>DCF Valuation</a:t>
            </a:r>
            <a:endParaRPr lang="en-IN" sz="4000" b="1" dirty="0">
              <a:latin typeface="+mn-lt"/>
            </a:endParaRPr>
          </a:p>
        </p:txBody>
      </p:sp>
      <p:pic>
        <p:nvPicPr>
          <p:cNvPr id="12" name="Picture 11">
            <a:extLst>
              <a:ext uri="{FF2B5EF4-FFF2-40B4-BE49-F238E27FC236}">
                <a16:creationId xmlns:a16="http://schemas.microsoft.com/office/drawing/2014/main" id="{8CA39116-96FA-D51F-25EC-05C8CFE4587F}"/>
              </a:ext>
            </a:extLst>
          </p:cNvPr>
          <p:cNvPicPr>
            <a:picLocks noChangeAspect="1"/>
          </p:cNvPicPr>
          <p:nvPr/>
        </p:nvPicPr>
        <p:blipFill>
          <a:blip r:embed="rId2"/>
          <a:stretch>
            <a:fillRect/>
          </a:stretch>
        </p:blipFill>
        <p:spPr>
          <a:xfrm>
            <a:off x="382842" y="973394"/>
            <a:ext cx="6548900" cy="5698634"/>
          </a:xfrm>
          <a:prstGeom prst="rect">
            <a:avLst/>
          </a:prstGeom>
        </p:spPr>
      </p:pic>
      <p:pic>
        <p:nvPicPr>
          <p:cNvPr id="13" name="Picture 12">
            <a:extLst>
              <a:ext uri="{FF2B5EF4-FFF2-40B4-BE49-F238E27FC236}">
                <a16:creationId xmlns:a16="http://schemas.microsoft.com/office/drawing/2014/main" id="{7266C185-3306-F127-68BB-054F8A65E496}"/>
              </a:ext>
            </a:extLst>
          </p:cNvPr>
          <p:cNvPicPr>
            <a:picLocks noChangeAspect="1"/>
          </p:cNvPicPr>
          <p:nvPr/>
        </p:nvPicPr>
        <p:blipFill>
          <a:blip r:embed="rId3"/>
          <a:stretch>
            <a:fillRect/>
          </a:stretch>
        </p:blipFill>
        <p:spPr>
          <a:xfrm>
            <a:off x="3657292" y="3822711"/>
            <a:ext cx="7873838" cy="2545079"/>
          </a:xfrm>
          <a:prstGeom prst="rect">
            <a:avLst/>
          </a:prstGeom>
        </p:spPr>
      </p:pic>
      <p:pic>
        <p:nvPicPr>
          <p:cNvPr id="14" name="Picture 13">
            <a:extLst>
              <a:ext uri="{FF2B5EF4-FFF2-40B4-BE49-F238E27FC236}">
                <a16:creationId xmlns:a16="http://schemas.microsoft.com/office/drawing/2014/main" id="{D0841912-FE5D-D057-DA0B-8E6A8DA75A03}"/>
              </a:ext>
            </a:extLst>
          </p:cNvPr>
          <p:cNvPicPr>
            <a:picLocks noChangeAspect="1"/>
          </p:cNvPicPr>
          <p:nvPr/>
        </p:nvPicPr>
        <p:blipFill>
          <a:blip r:embed="rId4"/>
          <a:stretch>
            <a:fillRect/>
          </a:stretch>
        </p:blipFill>
        <p:spPr>
          <a:xfrm>
            <a:off x="7314015" y="973394"/>
            <a:ext cx="3578853" cy="2708423"/>
          </a:xfrm>
          <a:prstGeom prst="rect">
            <a:avLst/>
          </a:prstGeom>
        </p:spPr>
      </p:pic>
    </p:spTree>
    <p:extLst>
      <p:ext uri="{BB962C8B-B14F-4D97-AF65-F5344CB8AC3E}">
        <p14:creationId xmlns:p14="http://schemas.microsoft.com/office/powerpoint/2010/main" val="648814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1DA5DD-2C58-8DDD-B224-D354141F4868}"/>
              </a:ext>
            </a:extLst>
          </p:cNvPr>
          <p:cNvSpPr>
            <a:spLocks noGrp="1"/>
          </p:cNvSpPr>
          <p:nvPr>
            <p:ph type="title"/>
          </p:nvPr>
        </p:nvSpPr>
        <p:spPr>
          <a:xfrm>
            <a:off x="629265" y="272878"/>
            <a:ext cx="10724535" cy="706590"/>
          </a:xfrm>
        </p:spPr>
        <p:txBody>
          <a:bodyPr>
            <a:normAutofit/>
          </a:bodyPr>
          <a:lstStyle/>
          <a:p>
            <a:r>
              <a:rPr lang="en-IN" sz="3200" b="1" dirty="0">
                <a:latin typeface="+mn-lt"/>
              </a:rPr>
              <a:t>Qualitative inputs for DCF Model (Assumptions)</a:t>
            </a:r>
          </a:p>
        </p:txBody>
      </p:sp>
      <p:sp>
        <p:nvSpPr>
          <p:cNvPr id="4" name="TextBox 3">
            <a:extLst>
              <a:ext uri="{FF2B5EF4-FFF2-40B4-BE49-F238E27FC236}">
                <a16:creationId xmlns:a16="http://schemas.microsoft.com/office/drawing/2014/main" id="{80208AA4-DE9A-841D-ADE9-4C9CD5A82E56}"/>
              </a:ext>
            </a:extLst>
          </p:cNvPr>
          <p:cNvSpPr txBox="1"/>
          <p:nvPr/>
        </p:nvSpPr>
        <p:spPr>
          <a:xfrm>
            <a:off x="629265" y="956046"/>
            <a:ext cx="11346425" cy="5878532"/>
          </a:xfrm>
          <a:prstGeom prst="rect">
            <a:avLst/>
          </a:prstGeom>
          <a:noFill/>
        </p:spPr>
        <p:txBody>
          <a:bodyPr wrap="square" rtlCol="0">
            <a:spAutoFit/>
          </a:bodyPr>
          <a:lstStyle/>
          <a:p>
            <a:r>
              <a:rPr lang="en-IN" b="1" dirty="0"/>
              <a:t>Revenue</a:t>
            </a:r>
            <a:endParaRPr lang="en-IN" dirty="0"/>
          </a:p>
          <a:p>
            <a:pPr marL="285750" lvl="0" indent="-285750">
              <a:buFont typeface="Arial" panose="020B0604020202020204" pitchFamily="34" charset="0"/>
              <a:buChar char="•"/>
            </a:pPr>
            <a:r>
              <a:rPr lang="en-IN" sz="1600" dirty="0"/>
              <a:t>Coca-Cola operates through concentrate sales and finished products, and revenue growth from 2021–2024 has slowed, reflecting a transition into steady, mature-market growth rather than high expansion.</a:t>
            </a:r>
          </a:p>
          <a:p>
            <a:pPr marL="285750" lvl="0" indent="-285750">
              <a:buFont typeface="Arial" panose="020B0604020202020204" pitchFamily="34" charset="0"/>
              <a:buChar char="•"/>
            </a:pPr>
            <a:r>
              <a:rPr lang="en-IN" sz="1600" dirty="0"/>
              <a:t>Growth is constrained by intense competition from global peers and strong regional/local beverage players, limiting additional pricing power and market-share gains.</a:t>
            </a:r>
          </a:p>
          <a:p>
            <a:pPr marL="285750" lvl="0" indent="-285750">
              <a:buFont typeface="Arial" panose="020B0604020202020204" pitchFamily="34" charset="0"/>
              <a:buChar char="•"/>
            </a:pPr>
            <a:r>
              <a:rPr lang="en-IN" sz="1600" b="1" dirty="0"/>
              <a:t>FX headwinds (~5%) reduced reported revenue</a:t>
            </a:r>
            <a:r>
              <a:rPr lang="en-IN" sz="1600" dirty="0"/>
              <a:t> despite stable underlying demand, and management expects similar currency pressure for FY25 due to a strong U.S. dollar. Used FX derivatives hedging strategies to mitigate volatility on reported revenues.</a:t>
            </a:r>
          </a:p>
          <a:p>
            <a:pPr marL="285750" lvl="0" indent="-285750">
              <a:buFont typeface="Arial" panose="020B0604020202020204" pitchFamily="34" charset="0"/>
              <a:buChar char="•"/>
            </a:pPr>
            <a:r>
              <a:rPr lang="en-IN" sz="1600" b="1" dirty="0"/>
              <a:t>Pricing, product mix, and geographic mix contributed an 11% boost to FY24 revenue</a:t>
            </a:r>
            <a:r>
              <a:rPr lang="en-IN" sz="1600" dirty="0"/>
              <a:t>, showing company’s ability to offset currency pressure and weaker low-margin markets and strengthen the beverage revenue with low/no-calorie and functional products to capture shifting demand.</a:t>
            </a:r>
          </a:p>
          <a:p>
            <a:pPr marL="285750" lvl="0" indent="-285750">
              <a:buFont typeface="Arial" panose="020B0604020202020204" pitchFamily="34" charset="0"/>
              <a:buChar char="•"/>
            </a:pPr>
            <a:r>
              <a:rPr lang="en-IN" sz="1600" b="1" dirty="0"/>
              <a:t>Strong revenue contribution from North America aligns with increased CAPEX</a:t>
            </a:r>
            <a:r>
              <a:rPr lang="en-IN" sz="1600" dirty="0"/>
              <a:t> in the region, supporting long-term category strength and operational efficiency.</a:t>
            </a:r>
          </a:p>
          <a:p>
            <a:pPr marL="285750" indent="-285750">
              <a:buFont typeface="Arial" panose="020B0604020202020204" pitchFamily="34" charset="0"/>
              <a:buChar char="•"/>
            </a:pPr>
            <a:r>
              <a:rPr lang="en-IN" sz="1600" dirty="0"/>
              <a:t>Company has ability of </a:t>
            </a:r>
            <a:r>
              <a:rPr lang="en-IN" sz="1600" b="1" dirty="0"/>
              <a:t>acquisition and support for growth in long run evaluate acquisitions of brands or bottling operations</a:t>
            </a:r>
            <a:r>
              <a:rPr lang="en-IN" sz="1600" dirty="0"/>
              <a:t>, particularly in underperforming markets, to expand presence and improve performance </a:t>
            </a:r>
            <a:r>
              <a:rPr lang="en-IN" dirty="0"/>
              <a:t>( Example  - Costa Coffee, Fairlife, BodyArmor).</a:t>
            </a:r>
            <a:endParaRPr lang="en-IN" sz="1600" dirty="0"/>
          </a:p>
          <a:p>
            <a:endParaRPr lang="en-IN" dirty="0"/>
          </a:p>
          <a:p>
            <a:r>
              <a:rPr lang="en-IN" sz="1600" b="1" dirty="0"/>
              <a:t>COGS</a:t>
            </a:r>
            <a:endParaRPr lang="en-IN" sz="1600" dirty="0"/>
          </a:p>
          <a:p>
            <a:pPr marL="285750" lvl="0" indent="-285750">
              <a:buFont typeface="Arial" panose="020B0604020202020204" pitchFamily="34" charset="0"/>
              <a:buChar char="•"/>
            </a:pPr>
            <a:r>
              <a:rPr lang="en-IN" sz="1600" dirty="0"/>
              <a:t>Raw material inflation — especially </a:t>
            </a:r>
            <a:r>
              <a:rPr lang="en-IN" sz="1600" b="1" dirty="0"/>
              <a:t>water, sugar, sweeteners, and packaging materials</a:t>
            </a:r>
            <a:r>
              <a:rPr lang="en-IN" sz="1600" dirty="0"/>
              <a:t> — continues to put pressure on Coca-Cola’s </a:t>
            </a:r>
            <a:r>
              <a:rPr lang="en-IN" sz="1600" b="1" dirty="0"/>
              <a:t>gross margins</a:t>
            </a:r>
            <a:r>
              <a:rPr lang="en-IN" sz="1600" dirty="0"/>
              <a:t>.</a:t>
            </a:r>
          </a:p>
          <a:p>
            <a:pPr marL="285750" lvl="0" indent="-285750">
              <a:buFont typeface="Arial" panose="020B0604020202020204" pitchFamily="34" charset="0"/>
              <a:buChar char="•"/>
            </a:pPr>
            <a:r>
              <a:rPr lang="en-IN" sz="1600" dirty="0"/>
              <a:t>Increased use of </a:t>
            </a:r>
            <a:r>
              <a:rPr lang="en-IN" sz="1600" b="1" dirty="0"/>
              <a:t>recycled packaging content</a:t>
            </a:r>
            <a:r>
              <a:rPr lang="en-IN" sz="1600" dirty="0"/>
              <a:t> supports long-term cost reduction efforts, though initial transition costs remain elevated and </a:t>
            </a:r>
            <a:r>
              <a:rPr lang="en-IN" sz="1600" b="1" dirty="0"/>
              <a:t>Climate-related risks</a:t>
            </a:r>
            <a:r>
              <a:rPr lang="en-IN" sz="1600" dirty="0"/>
              <a:t> pose a threat: water scarcity and extreme weather may increase production costs over time.</a:t>
            </a:r>
          </a:p>
          <a:p>
            <a:pPr marL="285750" lvl="0" indent="-285750">
              <a:buFont typeface="Arial" panose="020B0604020202020204" pitchFamily="34" charset="0"/>
              <a:buChar char="•"/>
            </a:pPr>
            <a:r>
              <a:rPr lang="en-IN" sz="1600" dirty="0"/>
              <a:t>Packaging initiatives such as </a:t>
            </a:r>
            <a:r>
              <a:rPr lang="en-IN" sz="1600" b="1" dirty="0"/>
              <a:t>Extended Producer Responsibility (EPR)</a:t>
            </a:r>
            <a:r>
              <a:rPr lang="en-IN" sz="1600" dirty="0"/>
              <a:t> and </a:t>
            </a:r>
            <a:r>
              <a:rPr lang="en-IN" sz="1600" b="1" dirty="0"/>
              <a:t>Deposit Return Schemes (DRS)</a:t>
            </a:r>
            <a:r>
              <a:rPr lang="en-IN" sz="1600" dirty="0"/>
              <a:t> can reduce packaging waste and eventually lower raw-material requirements, improving efficiency.</a:t>
            </a:r>
          </a:p>
        </p:txBody>
      </p:sp>
    </p:spTree>
    <p:extLst>
      <p:ext uri="{BB962C8B-B14F-4D97-AF65-F5344CB8AC3E}">
        <p14:creationId xmlns:p14="http://schemas.microsoft.com/office/powerpoint/2010/main" val="412950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0468C-0719-E3EE-15AA-F5E6F56F15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AEFF59-2FC3-D82D-9579-6A240C1D5F5A}"/>
              </a:ext>
            </a:extLst>
          </p:cNvPr>
          <p:cNvSpPr>
            <a:spLocks noGrp="1"/>
          </p:cNvSpPr>
          <p:nvPr>
            <p:ph type="title"/>
          </p:nvPr>
        </p:nvSpPr>
        <p:spPr>
          <a:xfrm>
            <a:off x="629265" y="272878"/>
            <a:ext cx="10724535" cy="706590"/>
          </a:xfrm>
        </p:spPr>
        <p:txBody>
          <a:bodyPr>
            <a:normAutofit/>
          </a:bodyPr>
          <a:lstStyle/>
          <a:p>
            <a:r>
              <a:rPr lang="en-IN" sz="3200" b="1" dirty="0">
                <a:latin typeface="+mn-lt"/>
              </a:rPr>
              <a:t>Qualitative inputs for DCF Model (Assumptions)</a:t>
            </a:r>
          </a:p>
        </p:txBody>
      </p:sp>
      <p:sp>
        <p:nvSpPr>
          <p:cNvPr id="4" name="TextBox 3">
            <a:extLst>
              <a:ext uri="{FF2B5EF4-FFF2-40B4-BE49-F238E27FC236}">
                <a16:creationId xmlns:a16="http://schemas.microsoft.com/office/drawing/2014/main" id="{37221861-0128-D6B1-0DD7-F9DDA7CAC710}"/>
              </a:ext>
            </a:extLst>
          </p:cNvPr>
          <p:cNvSpPr txBox="1"/>
          <p:nvPr/>
        </p:nvSpPr>
        <p:spPr>
          <a:xfrm>
            <a:off x="629265" y="979468"/>
            <a:ext cx="11346425" cy="4031873"/>
          </a:xfrm>
          <a:prstGeom prst="rect">
            <a:avLst/>
          </a:prstGeom>
          <a:noFill/>
        </p:spPr>
        <p:txBody>
          <a:bodyPr wrap="square" rtlCol="0">
            <a:spAutoFit/>
          </a:bodyPr>
          <a:lstStyle/>
          <a:p>
            <a:r>
              <a:rPr lang="en-IN" sz="1600" b="1" dirty="0"/>
              <a:t>SG&amp;A</a:t>
            </a:r>
            <a:endParaRPr lang="en-IN" sz="1600" dirty="0"/>
          </a:p>
          <a:p>
            <a:pPr marL="285750" lvl="0" indent="-285750">
              <a:buFont typeface="Arial" panose="020B0604020202020204" pitchFamily="34" charset="0"/>
              <a:buChar char="•"/>
            </a:pPr>
            <a:r>
              <a:rPr lang="en-IN" sz="1600" dirty="0"/>
              <a:t>SG&amp;A has improved over the past decade due to productivity initiatives, but recent trends show </a:t>
            </a:r>
            <a:r>
              <a:rPr lang="en-IN" sz="1600" b="1" dirty="0"/>
              <a:t>rising expenses</a:t>
            </a:r>
            <a:r>
              <a:rPr lang="en-IN" sz="1600" dirty="0"/>
              <a:t> driven by higher </a:t>
            </a:r>
            <a:r>
              <a:rPr lang="en-IN" sz="1600" b="1" dirty="0"/>
              <a:t>advertising</a:t>
            </a:r>
            <a:r>
              <a:rPr lang="en-IN" sz="1600" dirty="0"/>
              <a:t>, </a:t>
            </a:r>
            <a:r>
              <a:rPr lang="en-IN" sz="1600" b="1" dirty="0"/>
              <a:t>promotional spending</a:t>
            </a:r>
            <a:r>
              <a:rPr lang="en-IN" sz="1600" dirty="0"/>
              <a:t>, and </a:t>
            </a:r>
            <a:r>
              <a:rPr lang="en-IN" sz="1600" b="1" dirty="0"/>
              <a:t>employee-related costs</a:t>
            </a:r>
            <a:r>
              <a:rPr lang="en-IN" sz="1600" dirty="0"/>
              <a:t> to increase revenue</a:t>
            </a:r>
          </a:p>
          <a:p>
            <a:pPr marL="285750" lvl="0" indent="-285750">
              <a:buFont typeface="Arial" panose="020B0604020202020204" pitchFamily="34" charset="0"/>
              <a:buChar char="•"/>
            </a:pPr>
            <a:r>
              <a:rPr lang="en-IN" sz="1600" dirty="0"/>
              <a:t>Increased competitive pressure requires continued investment in </a:t>
            </a:r>
            <a:r>
              <a:rPr lang="en-IN" sz="1600" b="1" dirty="0"/>
              <a:t>brand visibility</a:t>
            </a:r>
            <a:r>
              <a:rPr lang="en-IN" sz="1600" dirty="0"/>
              <a:t> and </a:t>
            </a:r>
            <a:r>
              <a:rPr lang="en-IN" sz="1600" b="1" dirty="0"/>
              <a:t>market activation</a:t>
            </a:r>
            <a:r>
              <a:rPr lang="en-IN" sz="1600" dirty="0"/>
              <a:t>, which will keep SG&amp;A slightly elevated in the long term.</a:t>
            </a:r>
          </a:p>
          <a:p>
            <a:endParaRPr lang="en-IN" sz="1600" b="1" dirty="0"/>
          </a:p>
          <a:p>
            <a:r>
              <a:rPr lang="en-IN" sz="1600" b="1" dirty="0"/>
              <a:t>D&amp;A + Capex Assumptions</a:t>
            </a:r>
            <a:endParaRPr lang="en-IN" sz="1600" dirty="0"/>
          </a:p>
          <a:p>
            <a:pPr marL="285750" lvl="0" indent="-285750">
              <a:buFont typeface="Arial" panose="020B0604020202020204" pitchFamily="34" charset="0"/>
              <a:buChar char="•"/>
            </a:pPr>
            <a:r>
              <a:rPr lang="en-IN" sz="1600" dirty="0"/>
              <a:t>D&amp;A has gradually declined since 2020, . However increasing spending on bottling Bottling Investments, indicates D&amp;A slightly increase in future.</a:t>
            </a:r>
          </a:p>
          <a:p>
            <a:pPr marL="285750" lvl="0" indent="-285750">
              <a:buFont typeface="Arial" panose="020B0604020202020204" pitchFamily="34" charset="0"/>
              <a:buChar char="•"/>
            </a:pPr>
            <a:r>
              <a:rPr lang="en-IN" sz="1600" dirty="0"/>
              <a:t>Coca-Cola’s capital allocation priorities remain disciplined: investing in core operations, maintaining dividend growth, and offsetting share dilution through buybacks. Company expects FY25 Capex to be approximately </a:t>
            </a:r>
            <a:r>
              <a:rPr lang="en-IN" sz="1600" b="1" dirty="0"/>
              <a:t>$2.2 billion FY25</a:t>
            </a:r>
            <a:endParaRPr lang="en-IN" sz="1600" dirty="0"/>
          </a:p>
          <a:p>
            <a:endParaRPr lang="en-IN" sz="1600" b="1" dirty="0"/>
          </a:p>
          <a:p>
            <a:r>
              <a:rPr lang="en-IN" sz="1600" b="1" dirty="0"/>
              <a:t>Working Capital</a:t>
            </a:r>
            <a:endParaRPr lang="en-IN" sz="1600" dirty="0"/>
          </a:p>
          <a:p>
            <a:pPr marL="285750" lvl="0" indent="-285750">
              <a:buFont typeface="Arial" panose="020B0604020202020204" pitchFamily="34" charset="0"/>
              <a:buChar char="•"/>
            </a:pPr>
            <a:r>
              <a:rPr lang="en-IN" sz="1600" b="1" dirty="0"/>
              <a:t>Credit risk remains low due to company diversified global customer base</a:t>
            </a:r>
            <a:r>
              <a:rPr lang="en-IN" sz="1600" dirty="0"/>
              <a:t>, but AR has increased in recent years. The company uses factoring programs to sell receivables to financial institutions, improving working capital and reducing AR balances. Company sold $21.9B of receivables in 2024 and $17.7B in 2023.</a:t>
            </a:r>
          </a:p>
        </p:txBody>
      </p:sp>
    </p:spTree>
    <p:extLst>
      <p:ext uri="{BB962C8B-B14F-4D97-AF65-F5344CB8AC3E}">
        <p14:creationId xmlns:p14="http://schemas.microsoft.com/office/powerpoint/2010/main" val="1124915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3E4A6-117F-1706-321F-4034A06A6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480D71-F71C-A237-60D6-6821ABA85D84}"/>
              </a:ext>
            </a:extLst>
          </p:cNvPr>
          <p:cNvSpPr>
            <a:spLocks noGrp="1"/>
          </p:cNvSpPr>
          <p:nvPr>
            <p:ph type="title"/>
          </p:nvPr>
        </p:nvSpPr>
        <p:spPr>
          <a:xfrm>
            <a:off x="629265" y="272878"/>
            <a:ext cx="10724535" cy="706590"/>
          </a:xfrm>
        </p:spPr>
        <p:txBody>
          <a:bodyPr>
            <a:normAutofit/>
          </a:bodyPr>
          <a:lstStyle/>
          <a:p>
            <a:r>
              <a:rPr lang="en-IN" sz="3200" b="1" dirty="0">
                <a:latin typeface="+mn-lt"/>
              </a:rPr>
              <a:t>Interpretation &amp; Conclusion</a:t>
            </a:r>
          </a:p>
        </p:txBody>
      </p:sp>
      <p:sp>
        <p:nvSpPr>
          <p:cNvPr id="4" name="TextBox 3">
            <a:extLst>
              <a:ext uri="{FF2B5EF4-FFF2-40B4-BE49-F238E27FC236}">
                <a16:creationId xmlns:a16="http://schemas.microsoft.com/office/drawing/2014/main" id="{F411C5F3-FBA7-460A-CD4A-822B69599E08}"/>
              </a:ext>
            </a:extLst>
          </p:cNvPr>
          <p:cNvSpPr txBox="1"/>
          <p:nvPr/>
        </p:nvSpPr>
        <p:spPr>
          <a:xfrm>
            <a:off x="629265" y="979468"/>
            <a:ext cx="11346425" cy="5078313"/>
          </a:xfrm>
          <a:prstGeom prst="rect">
            <a:avLst/>
          </a:prstGeom>
          <a:noFill/>
        </p:spPr>
        <p:txBody>
          <a:bodyPr wrap="square" rtlCol="0">
            <a:spAutoFit/>
          </a:bodyPr>
          <a:lstStyle/>
          <a:p>
            <a:r>
              <a:rPr lang="en-IN" b="1" dirty="0"/>
              <a:t>Interpretation</a:t>
            </a:r>
            <a:br>
              <a:rPr lang="en-IN" sz="1600" dirty="0"/>
            </a:br>
            <a:br>
              <a:rPr lang="en-IN" sz="1600" dirty="0"/>
            </a:br>
            <a:r>
              <a:rPr lang="en-IN" sz="1600" b="1" dirty="0"/>
              <a:t>Company comparable analysis (CCA)</a:t>
            </a:r>
            <a:endParaRPr lang="en-IN" sz="1600" dirty="0"/>
          </a:p>
          <a:p>
            <a:pPr marL="285750" lvl="0" indent="-285750">
              <a:buFont typeface="Arial" panose="020B0604020202020204" pitchFamily="34" charset="0"/>
              <a:buChar char="•"/>
            </a:pPr>
            <a:r>
              <a:rPr lang="en-IN" sz="1600" dirty="0"/>
              <a:t>Coca cola is trading in premium due to its strong brand name and leader in their industry. due to their stable growth and strong profit margin, investors are viewing stock in optimistic that it will perform better in long run.</a:t>
            </a:r>
          </a:p>
          <a:p>
            <a:pPr marL="285750" lvl="0" indent="-285750">
              <a:buFont typeface="Arial" panose="020B0604020202020204" pitchFamily="34" charset="0"/>
              <a:buChar char="•"/>
            </a:pPr>
            <a:r>
              <a:rPr lang="en-IN" sz="1600" dirty="0"/>
              <a:t>Peer-implied valuation (EV 228B–290B) is </a:t>
            </a:r>
            <a:r>
              <a:rPr lang="en-IN" sz="1600" b="1" dirty="0"/>
              <a:t>below Coca-Cola’s actual EV of 340B</a:t>
            </a:r>
            <a:r>
              <a:rPr lang="en-IN" sz="1600" dirty="0"/>
              <a:t>, indicating slight overvaluation relative to competitors.</a:t>
            </a:r>
          </a:p>
          <a:p>
            <a:pPr marL="285750" lvl="0" indent="-285750">
              <a:buFont typeface="Arial" panose="020B0604020202020204" pitchFamily="34" charset="0"/>
              <a:buChar char="•"/>
            </a:pPr>
            <a:r>
              <a:rPr lang="en-IN" sz="1600" dirty="0"/>
              <a:t>Overall, CCA suggests company market price is </a:t>
            </a:r>
            <a:r>
              <a:rPr lang="en-IN" sz="1600" b="1" dirty="0"/>
              <a:t>expensive compared to peers</a:t>
            </a:r>
            <a:r>
              <a:rPr lang="en-IN" sz="1600" dirty="0"/>
              <a:t> on operational valuation metrics but </a:t>
            </a:r>
            <a:r>
              <a:rPr lang="en-IN" sz="1600" b="1" dirty="0"/>
              <a:t>fairly valued</a:t>
            </a:r>
            <a:r>
              <a:rPr lang="en-IN" sz="1600" dirty="0"/>
              <a:t> on earnings stability.</a:t>
            </a:r>
          </a:p>
          <a:p>
            <a:endParaRPr lang="en-IN" sz="1600" b="1" dirty="0"/>
          </a:p>
          <a:p>
            <a:r>
              <a:rPr lang="en-IN" sz="1600" b="1" dirty="0"/>
              <a:t>DCF interpretation</a:t>
            </a:r>
            <a:endParaRPr lang="en-IN" sz="1600" dirty="0"/>
          </a:p>
          <a:p>
            <a:pPr marL="285750" lvl="0" indent="-285750">
              <a:buFont typeface="Arial" panose="020B0604020202020204" pitchFamily="34" charset="0"/>
              <a:buChar char="•"/>
            </a:pPr>
            <a:r>
              <a:rPr lang="en-IN" sz="1600" dirty="0"/>
              <a:t>The model implies a fair value of </a:t>
            </a:r>
            <a:r>
              <a:rPr lang="en-IN" sz="1600" b="1" dirty="0"/>
              <a:t>$53.70/share</a:t>
            </a:r>
            <a:r>
              <a:rPr lang="en-IN" sz="1600" dirty="0"/>
              <a:t> versus a market price near </a:t>
            </a:r>
            <a:r>
              <a:rPr lang="en-IN" sz="1600" b="1" dirty="0"/>
              <a:t>$71.16</a:t>
            </a:r>
            <a:r>
              <a:rPr lang="en-IN" sz="1600" dirty="0"/>
              <a:t>, suggesting </a:t>
            </a:r>
            <a:r>
              <a:rPr lang="en-IN" sz="1600" b="1" dirty="0"/>
              <a:t>overvaluation</a:t>
            </a:r>
            <a:r>
              <a:rPr lang="en-IN" sz="1600" dirty="0"/>
              <a:t>. The downside mainly comes from moderate long-term growth assumptions, which limit terminal value.</a:t>
            </a:r>
          </a:p>
          <a:p>
            <a:pPr marL="285750" lvl="0" indent="-285750">
              <a:buFont typeface="Arial" panose="020B0604020202020204" pitchFamily="34" charset="0"/>
              <a:buChar char="•"/>
            </a:pPr>
            <a:r>
              <a:rPr lang="en-IN" sz="1600" dirty="0"/>
              <a:t>DCF indicates Coca-Cola’s market price reflects </a:t>
            </a:r>
            <a:r>
              <a:rPr lang="en-IN" sz="1600" b="1" dirty="0"/>
              <a:t>higher future expectations</a:t>
            </a:r>
            <a:r>
              <a:rPr lang="en-IN" sz="1600" dirty="0"/>
              <a:t> than what fundamentals currently justify</a:t>
            </a:r>
          </a:p>
          <a:p>
            <a:pPr marL="285750" lvl="0" indent="-285750">
              <a:buFont typeface="Arial" panose="020B0604020202020204" pitchFamily="34" charset="0"/>
              <a:buChar char="•"/>
            </a:pPr>
            <a:r>
              <a:rPr lang="en-IN" sz="1600" dirty="0"/>
              <a:t>Market pricing suggests investors are willing to pay a premium for </a:t>
            </a:r>
            <a:r>
              <a:rPr lang="en-IN" sz="1600" b="1" dirty="0"/>
              <a:t>brand value and stability </a:t>
            </a:r>
            <a:r>
              <a:rPr lang="en-IN" sz="1600" dirty="0"/>
              <a:t>not necessarily growth.</a:t>
            </a:r>
          </a:p>
          <a:p>
            <a:endParaRPr lang="en-IN" sz="1600" b="1" dirty="0"/>
          </a:p>
          <a:p>
            <a:r>
              <a:rPr lang="en-IN" b="1" dirty="0"/>
              <a:t>Conclusion</a:t>
            </a:r>
            <a:br>
              <a:rPr lang="en-IN" sz="1600" b="1" dirty="0"/>
            </a:br>
            <a:r>
              <a:rPr lang="en-IN" sz="1600" dirty="0"/>
              <a:t>Coca cola is fundamentally strong but moderately overvalued compared to its fair value, with valuation driven by sentiment, brand value and future performance rather than current growth.</a:t>
            </a:r>
          </a:p>
          <a:p>
            <a:endParaRPr lang="en-IN" sz="1600" dirty="0"/>
          </a:p>
        </p:txBody>
      </p:sp>
    </p:spTree>
    <p:extLst>
      <p:ext uri="{BB962C8B-B14F-4D97-AF65-F5344CB8AC3E}">
        <p14:creationId xmlns:p14="http://schemas.microsoft.com/office/powerpoint/2010/main" val="734970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80811-AD49-484D-0A8D-42B8E51A6D0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F55F116-ABFF-B77B-3EE3-B3C672F01FD8}"/>
              </a:ext>
            </a:extLst>
          </p:cNvPr>
          <p:cNvSpPr>
            <a:spLocks noGrp="1"/>
          </p:cNvSpPr>
          <p:nvPr>
            <p:ph type="title"/>
          </p:nvPr>
        </p:nvSpPr>
        <p:spPr>
          <a:xfrm>
            <a:off x="629265" y="272878"/>
            <a:ext cx="10724535" cy="706590"/>
          </a:xfrm>
        </p:spPr>
        <p:txBody>
          <a:bodyPr>
            <a:normAutofit/>
          </a:bodyPr>
          <a:lstStyle/>
          <a:p>
            <a:r>
              <a:rPr lang="en-US" sz="3200" b="1" dirty="0">
                <a:latin typeface="+mn-lt"/>
              </a:rPr>
              <a:t>Appendix – Historical revenue information</a:t>
            </a:r>
            <a:endParaRPr lang="en-IN" sz="3200" b="1" dirty="0">
              <a:latin typeface="+mn-lt"/>
            </a:endParaRPr>
          </a:p>
        </p:txBody>
      </p:sp>
      <p:pic>
        <p:nvPicPr>
          <p:cNvPr id="5" name="Picture 4">
            <a:extLst>
              <a:ext uri="{FF2B5EF4-FFF2-40B4-BE49-F238E27FC236}">
                <a16:creationId xmlns:a16="http://schemas.microsoft.com/office/drawing/2014/main" id="{3C12ACD2-CE2F-30DC-4364-8989FE8D0FB0}"/>
              </a:ext>
            </a:extLst>
          </p:cNvPr>
          <p:cNvPicPr>
            <a:picLocks noChangeAspect="1"/>
          </p:cNvPicPr>
          <p:nvPr/>
        </p:nvPicPr>
        <p:blipFill>
          <a:blip r:embed="rId2"/>
          <a:stretch>
            <a:fillRect/>
          </a:stretch>
        </p:blipFill>
        <p:spPr>
          <a:xfrm>
            <a:off x="629265" y="1069750"/>
            <a:ext cx="4076700" cy="1493520"/>
          </a:xfrm>
          <a:prstGeom prst="rect">
            <a:avLst/>
          </a:prstGeom>
        </p:spPr>
      </p:pic>
      <p:pic>
        <p:nvPicPr>
          <p:cNvPr id="8" name="Picture 7">
            <a:extLst>
              <a:ext uri="{FF2B5EF4-FFF2-40B4-BE49-F238E27FC236}">
                <a16:creationId xmlns:a16="http://schemas.microsoft.com/office/drawing/2014/main" id="{D1536464-2529-B2CA-8957-189539D62E98}"/>
              </a:ext>
            </a:extLst>
          </p:cNvPr>
          <p:cNvPicPr>
            <a:picLocks noChangeAspect="1"/>
          </p:cNvPicPr>
          <p:nvPr/>
        </p:nvPicPr>
        <p:blipFill>
          <a:blip r:embed="rId3"/>
          <a:stretch>
            <a:fillRect/>
          </a:stretch>
        </p:blipFill>
        <p:spPr>
          <a:xfrm>
            <a:off x="629265" y="4866230"/>
            <a:ext cx="6964680" cy="1844040"/>
          </a:xfrm>
          <a:prstGeom prst="rect">
            <a:avLst/>
          </a:prstGeom>
        </p:spPr>
      </p:pic>
      <p:pic>
        <p:nvPicPr>
          <p:cNvPr id="9" name="Picture 8">
            <a:extLst>
              <a:ext uri="{FF2B5EF4-FFF2-40B4-BE49-F238E27FC236}">
                <a16:creationId xmlns:a16="http://schemas.microsoft.com/office/drawing/2014/main" id="{EDD2AC21-EF58-A64E-E5FB-87A62ED36494}"/>
              </a:ext>
            </a:extLst>
          </p:cNvPr>
          <p:cNvPicPr>
            <a:picLocks noChangeAspect="1"/>
          </p:cNvPicPr>
          <p:nvPr/>
        </p:nvPicPr>
        <p:blipFill>
          <a:blip r:embed="rId4"/>
          <a:stretch>
            <a:fillRect/>
          </a:stretch>
        </p:blipFill>
        <p:spPr>
          <a:xfrm>
            <a:off x="629265" y="2701290"/>
            <a:ext cx="7071360" cy="2026920"/>
          </a:xfrm>
          <a:prstGeom prst="rect">
            <a:avLst/>
          </a:prstGeom>
        </p:spPr>
      </p:pic>
    </p:spTree>
    <p:extLst>
      <p:ext uri="{BB962C8B-B14F-4D97-AF65-F5344CB8AC3E}">
        <p14:creationId xmlns:p14="http://schemas.microsoft.com/office/powerpoint/2010/main" val="3619670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CFBEF-518B-9763-914B-9C6EE7D30E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D27997-A31A-3ED3-4960-3750F4683B7C}"/>
              </a:ext>
            </a:extLst>
          </p:cNvPr>
          <p:cNvSpPr>
            <a:spLocks noGrp="1"/>
          </p:cNvSpPr>
          <p:nvPr>
            <p:ph type="title"/>
          </p:nvPr>
        </p:nvSpPr>
        <p:spPr>
          <a:xfrm>
            <a:off x="629265" y="272878"/>
            <a:ext cx="10724535" cy="706590"/>
          </a:xfrm>
        </p:spPr>
        <p:txBody>
          <a:bodyPr>
            <a:normAutofit/>
          </a:bodyPr>
          <a:lstStyle/>
          <a:p>
            <a:r>
              <a:rPr lang="en-US" sz="3200" b="1" dirty="0">
                <a:latin typeface="+mn-lt"/>
              </a:rPr>
              <a:t>Appendix – Ratios</a:t>
            </a:r>
            <a:endParaRPr lang="en-IN" sz="3200" b="1" dirty="0">
              <a:latin typeface="+mn-lt"/>
            </a:endParaRPr>
          </a:p>
        </p:txBody>
      </p:sp>
      <p:pic>
        <p:nvPicPr>
          <p:cNvPr id="6" name="Picture 5">
            <a:extLst>
              <a:ext uri="{FF2B5EF4-FFF2-40B4-BE49-F238E27FC236}">
                <a16:creationId xmlns:a16="http://schemas.microsoft.com/office/drawing/2014/main" id="{3B3256C8-82B1-E7C7-E03C-79EF573ECA20}"/>
              </a:ext>
            </a:extLst>
          </p:cNvPr>
          <p:cNvPicPr>
            <a:picLocks noChangeAspect="1"/>
          </p:cNvPicPr>
          <p:nvPr/>
        </p:nvPicPr>
        <p:blipFill>
          <a:blip r:embed="rId2"/>
          <a:stretch>
            <a:fillRect/>
          </a:stretch>
        </p:blipFill>
        <p:spPr>
          <a:xfrm>
            <a:off x="629265" y="979468"/>
            <a:ext cx="8082116" cy="5470493"/>
          </a:xfrm>
          <a:prstGeom prst="rect">
            <a:avLst/>
          </a:prstGeom>
        </p:spPr>
      </p:pic>
    </p:spTree>
    <p:extLst>
      <p:ext uri="{BB962C8B-B14F-4D97-AF65-F5344CB8AC3E}">
        <p14:creationId xmlns:p14="http://schemas.microsoft.com/office/powerpoint/2010/main" val="3880327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1359</Words>
  <Application>Microsoft Office PowerPoint</Application>
  <PresentationFormat>Widescreen</PresentationFormat>
  <Paragraphs>92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Berlin Sans FB Demi</vt:lpstr>
      <vt:lpstr>Calibri</vt:lpstr>
      <vt:lpstr>Calibri Light</vt:lpstr>
      <vt:lpstr>Office Theme</vt:lpstr>
      <vt:lpstr>PowerPoint Presentation</vt:lpstr>
      <vt:lpstr>Table of Content</vt:lpstr>
      <vt:lpstr>Company Overview </vt:lpstr>
      <vt:lpstr>Company Overview </vt:lpstr>
      <vt:lpstr>Industry Overview</vt:lpstr>
      <vt:lpstr>Comparable Company Analysis (CCA)</vt:lpstr>
      <vt:lpstr>DCF Valuation</vt:lpstr>
      <vt:lpstr>DCF Valuation</vt:lpstr>
      <vt:lpstr>Qualitative inputs for DCF Model (Assumptions)</vt:lpstr>
      <vt:lpstr>Qualitative inputs for DCF Model (Assumptions)</vt:lpstr>
      <vt:lpstr>Interpretation &amp; Conclusion</vt:lpstr>
      <vt:lpstr>Appendix – Historical revenue information</vt:lpstr>
      <vt:lpstr>Appendix – Ratios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Sankarnarayanan B</dc:creator>
  <cp:lastModifiedBy>Sankarnarayanan B</cp:lastModifiedBy>
  <cp:revision>1</cp:revision>
  <dcterms:created xsi:type="dcterms:W3CDTF">2025-11-16T17:33:53Z</dcterms:created>
  <dcterms:modified xsi:type="dcterms:W3CDTF">2025-11-16T19:44:33Z</dcterms:modified>
</cp:coreProperties>
</file>